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1" r:id="rId5"/>
    <p:sldId id="262" r:id="rId6"/>
    <p:sldId id="271" r:id="rId7"/>
    <p:sldId id="265" r:id="rId8"/>
    <p:sldId id="266" r:id="rId9"/>
    <p:sldId id="268" r:id="rId10"/>
    <p:sldId id="269" r:id="rId11"/>
    <p:sldId id="270" r:id="rId12"/>
    <p:sldId id="27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AFC"/>
    <a:srgbClr val="0F172A"/>
    <a:srgbClr val="6B7280"/>
    <a:srgbClr val="F97316"/>
    <a:srgbClr val="22C55E"/>
    <a:srgbClr val="E3C7A7"/>
    <a:srgbClr val="F8F1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123"/>
    <p:restoredTop sz="94694"/>
  </p:normalViewPr>
  <p:slideViewPr>
    <p:cSldViewPr snapToGrid="0">
      <p:cViewPr varScale="1">
        <p:scale>
          <a:sx n="121" d="100"/>
          <a:sy n="121" d="100"/>
        </p:scale>
        <p:origin x="71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8DD0B-4DFF-EAFE-5ECA-40A4EBBFE1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470DEB-F1EE-C67D-2A1C-02CE1BC0CA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EA1DEE-9039-D76D-A229-14B1C6103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F96D5-869F-234C-874A-FB8B46E0ABD0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0DE7FD-51BC-EF52-9214-FA36F2319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4E33F1-C6C8-405E-9A57-27476D31F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DD8E-F59C-6140-9BA7-8B459286D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051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819BF-253C-CA23-D078-AD6A90FD5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061688-BCEE-2C1E-5DA3-8E9FF0845D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63810A-E2A3-33B8-9E70-B0C268FCB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F96D5-869F-234C-874A-FB8B46E0ABD0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892A1A-8428-EF06-4AEE-3E3B38E41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7AD68A-F38C-06A8-7C10-D0C4117BC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DD8E-F59C-6140-9BA7-8B459286D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552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30519-6F11-3B55-199A-1FD36963B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F55061-A235-80D9-AC86-B7C6A00671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B6A484-0BAB-7272-5241-B3941983E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F96D5-869F-234C-874A-FB8B46E0ABD0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180490-47B6-24DA-513F-781E3AD92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70C1A5-1439-9DA1-563C-BB245920A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DD8E-F59C-6140-9BA7-8B459286D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0227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7C239-F13E-F453-1669-7FBABD8DB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702E82-06A0-4B06-309C-CA5E141F5E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E13FCE-3DA4-592A-1B47-853D654CD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C2274C-0751-8C8D-8DD3-D356B1DA7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F96D5-869F-234C-874A-FB8B46E0ABD0}" type="datetimeFigureOut">
              <a:rPr lang="en-US" smtClean="0"/>
              <a:t>1/31/26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3787F1-D8BA-BFB7-BCF8-7D3967B37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64035B-806C-6FC2-36D9-0034FAC4A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DD8E-F59C-6140-9BA7-8B459286D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93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B4497-58B9-8078-BE06-4CE15D103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7D4F66-2406-6EA6-0743-723AF2D293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A0A44F-B7FB-6481-3E53-2DBC4D7558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2FC172-8A24-AE54-E26F-AA70ABB579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9F289E-DD39-2D77-990A-B70A3F0AA4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73F46C-640B-67CF-EF7D-B0BE09625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F96D5-869F-234C-874A-FB8B46E0ABD0}" type="datetimeFigureOut">
              <a:rPr lang="en-US" smtClean="0"/>
              <a:t>1/31/26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59A5B4-0925-2979-30CE-2A3D62322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693A61-D031-3DDA-91E2-56DB11020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DD8E-F59C-6140-9BA7-8B459286D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8748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19AE1-49F9-9D03-1CA0-2AF706AC3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021E39-D890-6519-23CD-0977E3FCE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F96D5-869F-234C-874A-FB8B46E0ABD0}" type="datetimeFigureOut">
              <a:rPr lang="en-US" smtClean="0"/>
              <a:t>1/31/26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A653B9-1291-5156-9FEB-C3197D31D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16943B-1DC4-DF1F-2EF1-1F643630E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DD8E-F59C-6140-9BA7-8B459286D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9502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2733AD-2D42-042B-E044-429EC58F8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F96D5-869F-234C-874A-FB8B46E0ABD0}" type="datetimeFigureOut">
              <a:rPr lang="en-US" smtClean="0"/>
              <a:t>1/31/26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C2A433-3742-37D3-D84A-A1DA05933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CA30BD-F118-0425-C115-B0267560F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DD8E-F59C-6140-9BA7-8B459286D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9565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1E37F-7F89-B59E-D61D-34FAF7CE8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217FB2-3F91-B01D-1C35-E47B843B91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638C1D-6104-DFA4-A40D-FA7EF918CE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D569C4-D359-8D91-3C0E-03E5AB01C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F96D5-869F-234C-874A-FB8B46E0ABD0}" type="datetimeFigureOut">
              <a:rPr lang="en-US" smtClean="0"/>
              <a:t>1/31/26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713973-E9FA-BA24-2D1E-22ECEEE38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64950E-154A-0FD9-EBDC-AC5371B96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DD8E-F59C-6140-9BA7-8B459286D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4901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754A6-C7AE-16C3-33E7-9B2ACE0EA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471EB8-E959-ABA7-6C5A-3B6F2559CD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C6278F-1614-C875-1D50-79B3AA427F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A09A45-8132-AC51-3F76-B2BF85AB3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F96D5-869F-234C-874A-FB8B46E0ABD0}" type="datetimeFigureOut">
              <a:rPr lang="en-US" smtClean="0"/>
              <a:t>1/31/26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1AE5A3-4BEB-2E26-C1F6-C3E461A75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32A159-8944-266F-B58B-072D566B5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DD8E-F59C-6140-9BA7-8B459286D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714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E5E41-8B39-83C4-E4F5-08651DDBC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3C0ADF-C616-EF18-9FBC-AD79D2897D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4EC642-12CE-65B8-7A63-8AC27F169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F96D5-869F-234C-874A-FB8B46E0ABD0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20AF49-C5E1-E1C5-2A7B-EDEF8026E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80A8DD-88A7-E24B-29B7-9EF703F87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DD8E-F59C-6140-9BA7-8B459286D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09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13F5E3D-3C09-E879-522C-E3902D5A8F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B95B68-D955-C11F-0262-558930EC81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95DAF6-3F3A-1342-A0BD-339AA87BD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F96D5-869F-234C-874A-FB8B46E0ABD0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2B17E8-DE54-ECC7-8968-431D70CDA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3A1A9-81DB-891F-5089-3BFAA0586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DD8E-F59C-6140-9BA7-8B459286D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492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47B670-48A1-C28D-54BF-E36C07B39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FCA17F-BA3F-74EA-3BBA-09C995B727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4681C1-37AC-F7AE-3E16-CB454DF3EB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FF96D5-869F-234C-874A-FB8B46E0ABD0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A3574C-FE3E-064B-0DC4-2E9F1901CF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E37234-4088-C889-6F24-4F9AF8E4DC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45DD8E-F59C-6140-9BA7-8B459286D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998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54F6B7F-2946-6594-2AAB-EA92C8EE8D12}"/>
              </a:ext>
            </a:extLst>
          </p:cNvPr>
          <p:cNvSpPr txBox="1"/>
          <p:nvPr/>
        </p:nvSpPr>
        <p:spPr>
          <a:xfrm>
            <a:off x="3389586" y="2613392"/>
            <a:ext cx="541282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FS104</a:t>
            </a:r>
          </a:p>
          <a:p>
            <a:pPr algn="ctr"/>
            <a:r>
              <a:rPr lang="en-US" sz="3200" b="1" dirty="0"/>
              <a:t>PROJECT PRESENTATION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Kwang Wei</a:t>
            </a:r>
          </a:p>
        </p:txBody>
      </p:sp>
    </p:spTree>
    <p:extLst>
      <p:ext uri="{BB962C8B-B14F-4D97-AF65-F5344CB8AC3E}">
        <p14:creationId xmlns:p14="http://schemas.microsoft.com/office/powerpoint/2010/main" val="1664476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282D66D-0C03-2381-1977-A7D58973A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CFE71D6-28CA-6CF5-0405-A9C94227B5DA}"/>
              </a:ext>
            </a:extLst>
          </p:cNvPr>
          <p:cNvCxnSpPr/>
          <p:nvPr/>
        </p:nvCxnSpPr>
        <p:spPr>
          <a:xfrm>
            <a:off x="199697" y="1093076"/>
            <a:ext cx="1179260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48007496-EBDE-F31F-5A09-7F213406395C}"/>
              </a:ext>
            </a:extLst>
          </p:cNvPr>
          <p:cNvSpPr txBox="1"/>
          <p:nvPr/>
        </p:nvSpPr>
        <p:spPr>
          <a:xfrm>
            <a:off x="199697" y="183431"/>
            <a:ext cx="19444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Content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AA1D39-098A-C110-5340-F4A95D1C0CA3}"/>
              </a:ext>
            </a:extLst>
          </p:cNvPr>
          <p:cNvSpPr txBox="1"/>
          <p:nvPr/>
        </p:nvSpPr>
        <p:spPr>
          <a:xfrm>
            <a:off x="1171903" y="1212777"/>
            <a:ext cx="5602014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Site Overview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Objective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User Stories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Wireframes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Code Guidelines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Visual Aids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Styles</a:t>
            </a:r>
          </a:p>
        </p:txBody>
      </p:sp>
    </p:spTree>
    <p:extLst>
      <p:ext uri="{BB962C8B-B14F-4D97-AF65-F5344CB8AC3E}">
        <p14:creationId xmlns:p14="http://schemas.microsoft.com/office/powerpoint/2010/main" val="2541723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EE439A-F84D-EE10-BF06-DAB40823A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1BE4420-8488-AAEA-F043-108FBC0DAE2C}"/>
              </a:ext>
            </a:extLst>
          </p:cNvPr>
          <p:cNvCxnSpPr/>
          <p:nvPr/>
        </p:nvCxnSpPr>
        <p:spPr>
          <a:xfrm>
            <a:off x="199697" y="1093076"/>
            <a:ext cx="1179260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FC5991F2-B63A-C194-BEBC-F0AEB0AAF6C7}"/>
              </a:ext>
            </a:extLst>
          </p:cNvPr>
          <p:cNvSpPr txBox="1"/>
          <p:nvPr/>
        </p:nvSpPr>
        <p:spPr>
          <a:xfrm>
            <a:off x="199696" y="199696"/>
            <a:ext cx="60378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Site Overview &amp; Objectives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F0BE81-D2FF-055D-B287-8930D394ABA2}"/>
              </a:ext>
            </a:extLst>
          </p:cNvPr>
          <p:cNvSpPr txBox="1"/>
          <p:nvPr/>
        </p:nvSpPr>
        <p:spPr>
          <a:xfrm>
            <a:off x="713377" y="1340126"/>
            <a:ext cx="8213272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Site Type</a:t>
            </a:r>
          </a:p>
          <a:p>
            <a:r>
              <a:rPr lang="en-US" dirty="0"/>
              <a:t>Web App focuses on sports networking</a:t>
            </a:r>
          </a:p>
          <a:p>
            <a:endParaRPr lang="en-US" dirty="0"/>
          </a:p>
          <a:p>
            <a:r>
              <a:rPr lang="en-US" sz="2000" b="1" dirty="0"/>
              <a:t>Target Audience</a:t>
            </a:r>
          </a:p>
          <a:p>
            <a:r>
              <a:rPr lang="en-US" dirty="0"/>
              <a:t>Athlete, Coach, Sports Enthusiast.  </a:t>
            </a:r>
          </a:p>
          <a:p>
            <a:endParaRPr lang="en-US" dirty="0"/>
          </a:p>
          <a:p>
            <a:r>
              <a:rPr lang="en-US" sz="2000" b="1" dirty="0"/>
              <a:t>Key 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Creating Events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Build Sport Community</a:t>
            </a:r>
          </a:p>
          <a:p>
            <a:endParaRPr lang="en-US" dirty="0"/>
          </a:p>
          <a:p>
            <a:r>
              <a:rPr lang="en-US" sz="2000" b="1" dirty="0"/>
              <a:t>Objectives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Create a UI friendly platform that is easy to navigate &amp; mobile responsive.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Web Visual: Professional &amp; Sporty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03499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0A3A15-D880-E055-D86A-67D8F4CDB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E56CBA74-1530-DCAB-59A8-8A04692068E1}"/>
              </a:ext>
            </a:extLst>
          </p:cNvPr>
          <p:cNvCxnSpPr/>
          <p:nvPr/>
        </p:nvCxnSpPr>
        <p:spPr>
          <a:xfrm>
            <a:off x="199697" y="1093076"/>
            <a:ext cx="1179260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A1B413D-BBCC-B1CA-731D-938A07632936}"/>
              </a:ext>
            </a:extLst>
          </p:cNvPr>
          <p:cNvSpPr txBox="1"/>
          <p:nvPr/>
        </p:nvSpPr>
        <p:spPr>
          <a:xfrm>
            <a:off x="199697" y="199696"/>
            <a:ext cx="3947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User Stories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4EFF374-92C0-93A3-28A9-08172EA2CF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7585777"/>
              </p:ext>
            </p:extLst>
          </p:nvPr>
        </p:nvGraphicFramePr>
        <p:xfrm>
          <a:off x="1332411" y="1454451"/>
          <a:ext cx="9862458" cy="359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5006">
                  <a:extLst>
                    <a:ext uri="{9D8B030D-6E8A-4147-A177-3AD203B41FA5}">
                      <a16:colId xmlns:a16="http://schemas.microsoft.com/office/drawing/2014/main" val="1398731422"/>
                    </a:ext>
                  </a:extLst>
                </a:gridCol>
                <a:gridCol w="3683726">
                  <a:extLst>
                    <a:ext uri="{9D8B030D-6E8A-4147-A177-3AD203B41FA5}">
                      <a16:colId xmlns:a16="http://schemas.microsoft.com/office/drawing/2014/main" val="205277895"/>
                    </a:ext>
                  </a:extLst>
                </a:gridCol>
                <a:gridCol w="3683726">
                  <a:extLst>
                    <a:ext uri="{9D8B030D-6E8A-4147-A177-3AD203B41FA5}">
                      <a16:colId xmlns:a16="http://schemas.microsoft.com/office/drawing/2014/main" val="1487289440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b="1" dirty="0">
                          <a:solidFill>
                            <a:srgbClr val="F8FAFC"/>
                          </a:solidFill>
                        </a:rPr>
                        <a:t>Persona</a:t>
                      </a:r>
                      <a:endParaRPr lang="en-SG" dirty="0">
                        <a:solidFill>
                          <a:srgbClr val="F8FAFC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b="1" dirty="0">
                          <a:solidFill>
                            <a:srgbClr val="F8FAFC"/>
                          </a:solidFill>
                        </a:rPr>
                        <a:t>User Story</a:t>
                      </a:r>
                      <a:endParaRPr lang="en-SG" dirty="0">
                        <a:solidFill>
                          <a:srgbClr val="F8FAFC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b="1" dirty="0">
                          <a:solidFill>
                            <a:srgbClr val="F8FAFC"/>
                          </a:solidFill>
                        </a:rPr>
                        <a:t>Goal</a:t>
                      </a:r>
                      <a:endParaRPr lang="en-SG" dirty="0">
                        <a:solidFill>
                          <a:srgbClr val="F8FAFC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165937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b="1" dirty="0">
                          <a:solidFill>
                            <a:srgbClr val="F8FAFC"/>
                          </a:solidFill>
                        </a:rPr>
                        <a:t>Athlete</a:t>
                      </a:r>
                      <a:endParaRPr lang="en-SG" dirty="0">
                        <a:solidFill>
                          <a:srgbClr val="F8FAFC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dirty="0"/>
                        <a:t>Wants to present verified performance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/>
                        <a:t>Increase discoverability by recruiters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2808549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b="1" dirty="0">
                          <a:solidFill>
                            <a:srgbClr val="F8FAFC"/>
                          </a:solidFill>
                        </a:rPr>
                        <a:t>Recruiter / Coach</a:t>
                      </a:r>
                      <a:endParaRPr lang="en-SG" dirty="0">
                        <a:solidFill>
                          <a:srgbClr val="F8FAFC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/>
                        <a:t>Wants to search and evaluate athletes efficiently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/>
                        <a:t>Make informed recruitment decisions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28419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b="1" dirty="0">
                          <a:solidFill>
                            <a:srgbClr val="F8FAFC"/>
                          </a:solidFill>
                        </a:rPr>
                        <a:t>Team Manager</a:t>
                      </a:r>
                      <a:endParaRPr lang="en-SG" dirty="0">
                        <a:solidFill>
                          <a:srgbClr val="F8FAFC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/>
                        <a:t>Wants to manage team profiles and opportunities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/>
                        <a:t>Maintain accurate and visible team presence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8144906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b="1" dirty="0">
                          <a:solidFill>
                            <a:srgbClr val="F8FAFC"/>
                          </a:solidFill>
                        </a:rPr>
                        <a:t>Network User</a:t>
                      </a:r>
                      <a:endParaRPr lang="en-SG" dirty="0">
                        <a:solidFill>
                          <a:srgbClr val="F8FAFC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/>
                        <a:t>Wants to connect and communicate with others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/>
                        <a:t>Build a professional sports network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167806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b="1" dirty="0">
                          <a:solidFill>
                            <a:srgbClr val="F8FAFC"/>
                          </a:solidFill>
                        </a:rPr>
                        <a:t>Data-Oriented User</a:t>
                      </a:r>
                      <a:endParaRPr lang="en-SG" dirty="0">
                        <a:solidFill>
                          <a:srgbClr val="F8FAFC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/>
                        <a:t>Wants to view performance metrics visually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dirty="0"/>
                        <a:t>Understand performance at a glance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76448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50636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18D4D6-2640-6FD8-4EC2-20663CE2A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EE85CBF0-448F-FAB2-E42C-87FAC5EA93A9}"/>
              </a:ext>
            </a:extLst>
          </p:cNvPr>
          <p:cNvCxnSpPr/>
          <p:nvPr/>
        </p:nvCxnSpPr>
        <p:spPr>
          <a:xfrm>
            <a:off x="199697" y="1093076"/>
            <a:ext cx="1179260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30573FF-4B3C-394C-92EA-D60284804D2A}"/>
              </a:ext>
            </a:extLst>
          </p:cNvPr>
          <p:cNvSpPr txBox="1"/>
          <p:nvPr/>
        </p:nvSpPr>
        <p:spPr>
          <a:xfrm>
            <a:off x="199697" y="199696"/>
            <a:ext cx="56132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Wireframe – Main page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9C53478-6C27-287E-87D8-0A83EF436038}"/>
              </a:ext>
            </a:extLst>
          </p:cNvPr>
          <p:cNvSpPr txBox="1"/>
          <p:nvPr/>
        </p:nvSpPr>
        <p:spPr>
          <a:xfrm>
            <a:off x="357809" y="1387030"/>
            <a:ext cx="4572000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Homepage</a:t>
            </a:r>
            <a:endParaRPr lang="en-US" b="1" dirty="0"/>
          </a:p>
          <a:p>
            <a:r>
              <a:rPr lang="en-US" dirty="0"/>
              <a:t>- Highlight about the web app’s feature like conveniently searching sports event near user and upcoming sports event.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47C9E95-11A8-C1C3-AEE3-1B9DEEF7CD4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917324" y="1408050"/>
            <a:ext cx="6074979" cy="547096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B6DA52D-4F9A-41B4-A64A-FFAB327BED10}"/>
              </a:ext>
            </a:extLst>
          </p:cNvPr>
          <p:cNvSpPr/>
          <p:nvPr/>
        </p:nvSpPr>
        <p:spPr>
          <a:xfrm>
            <a:off x="5917324" y="1408050"/>
            <a:ext cx="6074979" cy="6414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B3B485-0934-36D8-1434-8BA1003B2B6F}"/>
              </a:ext>
            </a:extLst>
          </p:cNvPr>
          <p:cNvSpPr txBox="1"/>
          <p:nvPr/>
        </p:nvSpPr>
        <p:spPr>
          <a:xfrm>
            <a:off x="6096000" y="1587084"/>
            <a:ext cx="15870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8FAFC"/>
                </a:solidFill>
              </a:rPr>
              <a:t>LOGO | Brand Name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A685F4-1231-6487-8B78-DA49E242B512}"/>
              </a:ext>
            </a:extLst>
          </p:cNvPr>
          <p:cNvSpPr txBox="1"/>
          <p:nvPr/>
        </p:nvSpPr>
        <p:spPr>
          <a:xfrm>
            <a:off x="8954813" y="1587084"/>
            <a:ext cx="30374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8FAFC"/>
                </a:solidFill>
              </a:rPr>
              <a:t>Home | About | Contact | Login | Register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50F0A722-CF1A-5836-6842-3E1FA2E36A91}"/>
              </a:ext>
            </a:extLst>
          </p:cNvPr>
          <p:cNvSpPr/>
          <p:nvPr/>
        </p:nvSpPr>
        <p:spPr>
          <a:xfrm>
            <a:off x="9701048" y="2228551"/>
            <a:ext cx="2049517" cy="1608083"/>
          </a:xfrm>
          <a:prstGeom prst="roundRect">
            <a:avLst>
              <a:gd name="adj" fmla="val 6990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45E4B9A-2CEE-E90B-D00D-87DD5B8DACE3}"/>
              </a:ext>
            </a:extLst>
          </p:cNvPr>
          <p:cNvSpPr/>
          <p:nvPr/>
        </p:nvSpPr>
        <p:spPr>
          <a:xfrm>
            <a:off x="6358759" y="2228551"/>
            <a:ext cx="2858813" cy="160808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400" dirty="0">
                <a:solidFill>
                  <a:sysClr val="windowText" lastClr="000000"/>
                </a:solidFill>
              </a:rPr>
              <a:t>Header Text</a:t>
            </a:r>
          </a:p>
          <a:p>
            <a:endParaRPr lang="en-US" sz="1400" dirty="0">
              <a:solidFill>
                <a:sysClr val="windowText" lastClr="000000"/>
              </a:solidFill>
            </a:endParaRPr>
          </a:p>
          <a:p>
            <a:r>
              <a:rPr lang="en-US" sz="1400" dirty="0">
                <a:solidFill>
                  <a:sysClr val="windowText" lastClr="000000"/>
                </a:solidFill>
              </a:rPr>
              <a:t>Paragraph Text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0275281-3BAD-E81E-FF9F-4BA54F10308F}"/>
              </a:ext>
            </a:extLst>
          </p:cNvPr>
          <p:cNvSpPr/>
          <p:nvPr/>
        </p:nvSpPr>
        <p:spPr>
          <a:xfrm>
            <a:off x="6374524" y="4004442"/>
            <a:ext cx="5018689" cy="77100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400" dirty="0">
                <a:solidFill>
                  <a:sysClr val="windowText" lastClr="000000"/>
                </a:solidFill>
              </a:rPr>
              <a:t>Header Text</a:t>
            </a:r>
          </a:p>
          <a:p>
            <a:endParaRPr lang="en-US" sz="1400" dirty="0">
              <a:solidFill>
                <a:sysClr val="windowText" lastClr="000000"/>
              </a:solidFill>
            </a:endParaRPr>
          </a:p>
          <a:p>
            <a:r>
              <a:rPr lang="en-US" sz="1400" dirty="0">
                <a:solidFill>
                  <a:sysClr val="windowText" lastClr="000000"/>
                </a:solidFill>
              </a:rPr>
              <a:t>Paragraph Text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AAD48F2-6E99-FDE2-F4EE-FFAE48E49651}"/>
              </a:ext>
            </a:extLst>
          </p:cNvPr>
          <p:cNvSpPr/>
          <p:nvPr/>
        </p:nvSpPr>
        <p:spPr>
          <a:xfrm>
            <a:off x="5917324" y="6262324"/>
            <a:ext cx="6074979" cy="6414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Footer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5B3FD20-1FB7-DF51-D020-187E775A0371}"/>
              </a:ext>
            </a:extLst>
          </p:cNvPr>
          <p:cNvSpPr/>
          <p:nvPr/>
        </p:nvSpPr>
        <p:spPr>
          <a:xfrm>
            <a:off x="6358759" y="5090422"/>
            <a:ext cx="5018689" cy="77100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400" dirty="0">
                <a:solidFill>
                  <a:sysClr val="windowText" lastClr="000000"/>
                </a:solidFill>
              </a:rPr>
              <a:t>Upcoming Event</a:t>
            </a:r>
          </a:p>
          <a:p>
            <a:endParaRPr lang="en-US" sz="1400" dirty="0">
              <a:solidFill>
                <a:sysClr val="windowText" lastClr="000000"/>
              </a:solidFill>
            </a:endParaRPr>
          </a:p>
          <a:p>
            <a:r>
              <a:rPr lang="en-US" sz="1400" dirty="0">
                <a:solidFill>
                  <a:sysClr val="windowText" lastClr="000000"/>
                </a:solidFill>
              </a:rPr>
              <a:t>Paragraph Text</a:t>
            </a:r>
          </a:p>
        </p:txBody>
      </p:sp>
    </p:spTree>
    <p:extLst>
      <p:ext uri="{BB962C8B-B14F-4D97-AF65-F5344CB8AC3E}">
        <p14:creationId xmlns:p14="http://schemas.microsoft.com/office/powerpoint/2010/main" val="39980669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7A4BC-92F1-13F8-01AF-5B037F809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FF4D342-BAD8-8AC0-4BC6-7A81CDED3984}"/>
              </a:ext>
            </a:extLst>
          </p:cNvPr>
          <p:cNvCxnSpPr/>
          <p:nvPr/>
        </p:nvCxnSpPr>
        <p:spPr>
          <a:xfrm>
            <a:off x="199697" y="1093076"/>
            <a:ext cx="1179260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E1CC4A4-A1FC-4FB0-C2B6-4097059B35DE}"/>
              </a:ext>
            </a:extLst>
          </p:cNvPr>
          <p:cNvSpPr txBox="1"/>
          <p:nvPr/>
        </p:nvSpPr>
        <p:spPr>
          <a:xfrm>
            <a:off x="199697" y="199696"/>
            <a:ext cx="56132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Wireframe – User Page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9AFCF2D-D2DD-4996-C5EE-3A02A186AC6D}"/>
              </a:ext>
            </a:extLst>
          </p:cNvPr>
          <p:cNvSpPr txBox="1"/>
          <p:nvPr/>
        </p:nvSpPr>
        <p:spPr>
          <a:xfrm>
            <a:off x="357809" y="1387030"/>
            <a:ext cx="4572000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User Page</a:t>
            </a:r>
          </a:p>
          <a:p>
            <a:pPr marL="285750" indent="-285750">
              <a:buFontTx/>
              <a:buChar char="-"/>
            </a:pPr>
            <a:r>
              <a:rPr lang="en-US" dirty="0"/>
              <a:t>Dashboard that allow user to track their personal activity.</a:t>
            </a:r>
          </a:p>
          <a:p>
            <a:pPr marL="285750" indent="-285750">
              <a:buFontTx/>
              <a:buChar char="-"/>
            </a:pPr>
            <a:r>
              <a:rPr lang="en-US" dirty="0"/>
              <a:t>All user to host/create their own events/ community.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913EA4F-36BF-2EAC-3CA8-194982E3265B}"/>
              </a:ext>
            </a:extLst>
          </p:cNvPr>
          <p:cNvSpPr/>
          <p:nvPr/>
        </p:nvSpPr>
        <p:spPr>
          <a:xfrm>
            <a:off x="5917324" y="1408050"/>
            <a:ext cx="6074979" cy="547096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DADB24C-CAD1-817E-CE5B-F9C3D968C228}"/>
              </a:ext>
            </a:extLst>
          </p:cNvPr>
          <p:cNvSpPr/>
          <p:nvPr/>
        </p:nvSpPr>
        <p:spPr>
          <a:xfrm>
            <a:off x="5917324" y="1408050"/>
            <a:ext cx="6074979" cy="6414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F618A4-8998-330D-2B95-4EB360383F4A}"/>
              </a:ext>
            </a:extLst>
          </p:cNvPr>
          <p:cNvSpPr txBox="1"/>
          <p:nvPr/>
        </p:nvSpPr>
        <p:spPr>
          <a:xfrm>
            <a:off x="6096000" y="1587084"/>
            <a:ext cx="15870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8FAFC"/>
                </a:solidFill>
              </a:rPr>
              <a:t>LOGO | Brand Name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2FB4C0-81F1-CC71-8015-50C97A3ED842}"/>
              </a:ext>
            </a:extLst>
          </p:cNvPr>
          <p:cNvSpPr txBox="1"/>
          <p:nvPr/>
        </p:nvSpPr>
        <p:spPr>
          <a:xfrm>
            <a:off x="8954813" y="1587084"/>
            <a:ext cx="30374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8FAFC"/>
                </a:solidFill>
              </a:rPr>
              <a:t>Home | About | Contact | Login | Register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5304FB7-DF41-F2CB-9E05-429E6A5AE7A5}"/>
              </a:ext>
            </a:extLst>
          </p:cNvPr>
          <p:cNvSpPr/>
          <p:nvPr/>
        </p:nvSpPr>
        <p:spPr>
          <a:xfrm>
            <a:off x="5917324" y="6262324"/>
            <a:ext cx="6074979" cy="6414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Footer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878DE20C-B43C-6A86-DC65-49DEAD15F147}"/>
              </a:ext>
            </a:extLst>
          </p:cNvPr>
          <p:cNvSpPr/>
          <p:nvPr/>
        </p:nvSpPr>
        <p:spPr>
          <a:xfrm>
            <a:off x="6684579" y="2354317"/>
            <a:ext cx="3184635" cy="37837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0B032ED2-68C0-F62F-4831-08A7E1BBA265}"/>
              </a:ext>
            </a:extLst>
          </p:cNvPr>
          <p:cNvSpPr/>
          <p:nvPr/>
        </p:nvSpPr>
        <p:spPr>
          <a:xfrm>
            <a:off x="10146007" y="2354317"/>
            <a:ext cx="903449" cy="378373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Search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E4421D48-6420-56AA-2E16-1BE32A8E57EB}"/>
              </a:ext>
            </a:extLst>
          </p:cNvPr>
          <p:cNvSpPr/>
          <p:nvPr/>
        </p:nvSpPr>
        <p:spPr>
          <a:xfrm>
            <a:off x="6684579" y="3061340"/>
            <a:ext cx="998483" cy="37837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ysClr val="windowText" lastClr="000000"/>
                </a:solidFill>
              </a:rPr>
              <a:t>Dashboard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30DD77B-97FC-3CFF-445E-685707F7A9F3}"/>
              </a:ext>
            </a:extLst>
          </p:cNvPr>
          <p:cNvSpPr/>
          <p:nvPr/>
        </p:nvSpPr>
        <p:spPr>
          <a:xfrm>
            <a:off x="6684579" y="3565499"/>
            <a:ext cx="1545021" cy="804370"/>
          </a:xfrm>
          <a:prstGeom prst="roundRect">
            <a:avLst>
              <a:gd name="adj" fmla="val 7094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951B975A-678D-DFA9-1B30-4B9432160F3E}"/>
              </a:ext>
            </a:extLst>
          </p:cNvPr>
          <p:cNvSpPr/>
          <p:nvPr/>
        </p:nvSpPr>
        <p:spPr>
          <a:xfrm>
            <a:off x="8324193" y="3565499"/>
            <a:ext cx="1545021" cy="804370"/>
          </a:xfrm>
          <a:prstGeom prst="roundRect">
            <a:avLst>
              <a:gd name="adj" fmla="val 7094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6B3C20EE-D560-BB9A-4807-78C87CCF7A74}"/>
              </a:ext>
            </a:extLst>
          </p:cNvPr>
          <p:cNvSpPr/>
          <p:nvPr/>
        </p:nvSpPr>
        <p:spPr>
          <a:xfrm>
            <a:off x="9963807" y="3565499"/>
            <a:ext cx="1545021" cy="804370"/>
          </a:xfrm>
          <a:prstGeom prst="roundRect">
            <a:avLst>
              <a:gd name="adj" fmla="val 7094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B630BDD1-1447-6C3D-A718-D13471AA433D}"/>
              </a:ext>
            </a:extLst>
          </p:cNvPr>
          <p:cNvSpPr/>
          <p:nvPr/>
        </p:nvSpPr>
        <p:spPr>
          <a:xfrm>
            <a:off x="6684578" y="4661832"/>
            <a:ext cx="998483" cy="37837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ysClr val="windowText" lastClr="000000"/>
                </a:solidFill>
              </a:rPr>
              <a:t>Create Event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B02CDC8F-80C2-1F97-639D-658B8924FF34}"/>
              </a:ext>
            </a:extLst>
          </p:cNvPr>
          <p:cNvSpPr/>
          <p:nvPr/>
        </p:nvSpPr>
        <p:spPr>
          <a:xfrm>
            <a:off x="6684578" y="5153116"/>
            <a:ext cx="4824250" cy="804370"/>
          </a:xfrm>
          <a:prstGeom prst="roundRect">
            <a:avLst>
              <a:gd name="adj" fmla="val 7094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6904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C81D9-ABC7-21C6-D12B-46F850AB1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A9501AB7-7667-91E9-5324-9AB2E5CA9523}"/>
              </a:ext>
            </a:extLst>
          </p:cNvPr>
          <p:cNvCxnSpPr/>
          <p:nvPr/>
        </p:nvCxnSpPr>
        <p:spPr>
          <a:xfrm>
            <a:off x="199697" y="1093076"/>
            <a:ext cx="1179260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0D9E853-2BD8-D847-B581-CC4A54C28160}"/>
              </a:ext>
            </a:extLst>
          </p:cNvPr>
          <p:cNvSpPr txBox="1"/>
          <p:nvPr/>
        </p:nvSpPr>
        <p:spPr>
          <a:xfrm>
            <a:off x="199697" y="199696"/>
            <a:ext cx="56132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Wireframe – About Page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1BB8AB3-C87B-00B6-CF13-867D3F4BCB95}"/>
              </a:ext>
            </a:extLst>
          </p:cNvPr>
          <p:cNvSpPr txBox="1"/>
          <p:nvPr/>
        </p:nvSpPr>
        <p:spPr>
          <a:xfrm>
            <a:off x="357809" y="1387030"/>
            <a:ext cx="4572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About Page</a:t>
            </a:r>
          </a:p>
          <a:p>
            <a:r>
              <a:rPr lang="en-US" dirty="0"/>
              <a:t>- Allow user to understand more about the web app.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35701BF-57CF-3808-E746-762905F12C7D}"/>
              </a:ext>
            </a:extLst>
          </p:cNvPr>
          <p:cNvSpPr/>
          <p:nvPr/>
        </p:nvSpPr>
        <p:spPr>
          <a:xfrm>
            <a:off x="5917324" y="1408050"/>
            <a:ext cx="6074979" cy="547096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F75DFF9-6DED-3DB8-9CC2-8FB1645DFD5C}"/>
              </a:ext>
            </a:extLst>
          </p:cNvPr>
          <p:cNvSpPr/>
          <p:nvPr/>
        </p:nvSpPr>
        <p:spPr>
          <a:xfrm>
            <a:off x="5917324" y="1408050"/>
            <a:ext cx="6074979" cy="6414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5728B04-3DBD-9033-1774-C7C15FEAEF16}"/>
              </a:ext>
            </a:extLst>
          </p:cNvPr>
          <p:cNvSpPr txBox="1"/>
          <p:nvPr/>
        </p:nvSpPr>
        <p:spPr>
          <a:xfrm>
            <a:off x="6096000" y="1587084"/>
            <a:ext cx="15870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8FAFC"/>
                </a:solidFill>
              </a:rPr>
              <a:t>LOGO | Brand Name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D2BF542-C490-93D9-D92C-E8ADACC6DFD5}"/>
              </a:ext>
            </a:extLst>
          </p:cNvPr>
          <p:cNvSpPr txBox="1"/>
          <p:nvPr/>
        </p:nvSpPr>
        <p:spPr>
          <a:xfrm>
            <a:off x="8954813" y="1587084"/>
            <a:ext cx="30374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8FAFC"/>
                </a:solidFill>
              </a:rPr>
              <a:t>Home | About | Contact | Login | Register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97A3FB47-5D47-9D0F-E08D-67C87086C494}"/>
              </a:ext>
            </a:extLst>
          </p:cNvPr>
          <p:cNvSpPr/>
          <p:nvPr/>
        </p:nvSpPr>
        <p:spPr>
          <a:xfrm>
            <a:off x="9701048" y="2228551"/>
            <a:ext cx="2049517" cy="1608083"/>
          </a:xfrm>
          <a:prstGeom prst="roundRect">
            <a:avLst>
              <a:gd name="adj" fmla="val 6990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63A896C5-1336-F99D-F848-4EAE36AB517B}"/>
              </a:ext>
            </a:extLst>
          </p:cNvPr>
          <p:cNvSpPr/>
          <p:nvPr/>
        </p:nvSpPr>
        <p:spPr>
          <a:xfrm>
            <a:off x="6458607" y="4960884"/>
            <a:ext cx="1560786" cy="641468"/>
          </a:xfrm>
          <a:prstGeom prst="roundRect">
            <a:avLst>
              <a:gd name="adj" fmla="val 6990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DC5F3C42-12A2-8033-B1AA-0CD9AD61D8BA}"/>
              </a:ext>
            </a:extLst>
          </p:cNvPr>
          <p:cNvSpPr/>
          <p:nvPr/>
        </p:nvSpPr>
        <p:spPr>
          <a:xfrm>
            <a:off x="8145517" y="4960884"/>
            <a:ext cx="1560786" cy="641468"/>
          </a:xfrm>
          <a:prstGeom prst="roundRect">
            <a:avLst>
              <a:gd name="adj" fmla="val 6990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5A8B9B13-EC2A-356A-0A2B-06D041D123ED}"/>
              </a:ext>
            </a:extLst>
          </p:cNvPr>
          <p:cNvSpPr/>
          <p:nvPr/>
        </p:nvSpPr>
        <p:spPr>
          <a:xfrm>
            <a:off x="9832427" y="4960884"/>
            <a:ext cx="1560786" cy="641468"/>
          </a:xfrm>
          <a:prstGeom prst="roundRect">
            <a:avLst>
              <a:gd name="adj" fmla="val 6990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17E89A9-2084-3C66-E364-CB66EE35323E}"/>
              </a:ext>
            </a:extLst>
          </p:cNvPr>
          <p:cNvSpPr/>
          <p:nvPr/>
        </p:nvSpPr>
        <p:spPr>
          <a:xfrm>
            <a:off x="6358759" y="2228551"/>
            <a:ext cx="2858813" cy="160808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400" dirty="0">
                <a:solidFill>
                  <a:sysClr val="windowText" lastClr="000000"/>
                </a:solidFill>
              </a:rPr>
              <a:t>Header Text</a:t>
            </a:r>
          </a:p>
          <a:p>
            <a:endParaRPr lang="en-US" sz="1400" dirty="0">
              <a:solidFill>
                <a:sysClr val="windowText" lastClr="000000"/>
              </a:solidFill>
            </a:endParaRPr>
          </a:p>
          <a:p>
            <a:r>
              <a:rPr lang="en-US" sz="1400" dirty="0">
                <a:solidFill>
                  <a:sysClr val="windowText" lastClr="000000"/>
                </a:solidFill>
              </a:rPr>
              <a:t>Paragraph Text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07946CD-D45B-7DAD-EDAD-65E221D1A5B5}"/>
              </a:ext>
            </a:extLst>
          </p:cNvPr>
          <p:cNvSpPr/>
          <p:nvPr/>
        </p:nvSpPr>
        <p:spPr>
          <a:xfrm>
            <a:off x="6374524" y="4004442"/>
            <a:ext cx="5018689" cy="77100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400" dirty="0">
                <a:solidFill>
                  <a:sysClr val="windowText" lastClr="000000"/>
                </a:solidFill>
              </a:rPr>
              <a:t>Header Text</a:t>
            </a:r>
          </a:p>
          <a:p>
            <a:endParaRPr lang="en-US" sz="1400" dirty="0">
              <a:solidFill>
                <a:sysClr val="windowText" lastClr="000000"/>
              </a:solidFill>
            </a:endParaRPr>
          </a:p>
          <a:p>
            <a:r>
              <a:rPr lang="en-US" sz="1400" dirty="0">
                <a:solidFill>
                  <a:sysClr val="windowText" lastClr="000000"/>
                </a:solidFill>
              </a:rPr>
              <a:t>Paragraph Text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7C41D0E-0B3F-3E31-3413-6ABD2DBD8855}"/>
              </a:ext>
            </a:extLst>
          </p:cNvPr>
          <p:cNvSpPr/>
          <p:nvPr/>
        </p:nvSpPr>
        <p:spPr>
          <a:xfrm>
            <a:off x="5917324" y="6262324"/>
            <a:ext cx="6074979" cy="6414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10192252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06BCE-C19C-E1E0-0933-5754A8F80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E5A7AA68-A295-5C02-F045-E33850ABF56B}"/>
              </a:ext>
            </a:extLst>
          </p:cNvPr>
          <p:cNvCxnSpPr/>
          <p:nvPr/>
        </p:nvCxnSpPr>
        <p:spPr>
          <a:xfrm>
            <a:off x="199697" y="1093076"/>
            <a:ext cx="1179260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C7CA9E7-A048-591E-EBF4-7A1E32B1D66D}"/>
              </a:ext>
            </a:extLst>
          </p:cNvPr>
          <p:cNvSpPr txBox="1"/>
          <p:nvPr/>
        </p:nvSpPr>
        <p:spPr>
          <a:xfrm>
            <a:off x="199697" y="199696"/>
            <a:ext cx="56132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Wireframe – Contact Page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8130010-2545-22E2-9B8A-0098B5AD0796}"/>
              </a:ext>
            </a:extLst>
          </p:cNvPr>
          <p:cNvSpPr txBox="1"/>
          <p:nvPr/>
        </p:nvSpPr>
        <p:spPr>
          <a:xfrm>
            <a:off x="357809" y="1387030"/>
            <a:ext cx="4572000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Contact Page</a:t>
            </a:r>
          </a:p>
          <a:p>
            <a:pPr marL="285750" indent="-285750">
              <a:buFontTx/>
              <a:buChar char="-"/>
            </a:pPr>
            <a:r>
              <a:rPr lang="en-US" dirty="0"/>
              <a:t>Allow user to send enquiries for partnership or make a report.</a:t>
            </a:r>
          </a:p>
          <a:p>
            <a:pPr marL="285750" indent="-285750">
              <a:buFontTx/>
              <a:buChar char="-"/>
            </a:pPr>
            <a:r>
              <a:rPr lang="en-US" dirty="0"/>
              <a:t>Simple contact form with name, email, subject &amp; message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289F448-AFE8-92E2-46B4-B256BEBA786A}"/>
              </a:ext>
            </a:extLst>
          </p:cNvPr>
          <p:cNvSpPr/>
          <p:nvPr/>
        </p:nvSpPr>
        <p:spPr>
          <a:xfrm>
            <a:off x="5917324" y="1408050"/>
            <a:ext cx="6074979" cy="547096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773B35D-B93B-9F77-4EB6-2558FFF02219}"/>
              </a:ext>
            </a:extLst>
          </p:cNvPr>
          <p:cNvSpPr/>
          <p:nvPr/>
        </p:nvSpPr>
        <p:spPr>
          <a:xfrm>
            <a:off x="5917324" y="1408050"/>
            <a:ext cx="6074979" cy="6414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AEF93C-F324-5502-4EA9-7C72DEC0F3B0}"/>
              </a:ext>
            </a:extLst>
          </p:cNvPr>
          <p:cNvSpPr txBox="1"/>
          <p:nvPr/>
        </p:nvSpPr>
        <p:spPr>
          <a:xfrm>
            <a:off x="6096000" y="1587084"/>
            <a:ext cx="15870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8FAFC"/>
                </a:solidFill>
              </a:rPr>
              <a:t>LOGO | Brand Name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FF951A3-2C1A-12A4-76D1-A0725F5ACF19}"/>
              </a:ext>
            </a:extLst>
          </p:cNvPr>
          <p:cNvSpPr txBox="1"/>
          <p:nvPr/>
        </p:nvSpPr>
        <p:spPr>
          <a:xfrm>
            <a:off x="8954813" y="1587084"/>
            <a:ext cx="30374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8FAFC"/>
                </a:solidFill>
              </a:rPr>
              <a:t>Home | About | Contact | Login | Register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6033F06-F7F7-B0D7-A0B2-7971E3543979}"/>
              </a:ext>
            </a:extLst>
          </p:cNvPr>
          <p:cNvSpPr/>
          <p:nvPr/>
        </p:nvSpPr>
        <p:spPr>
          <a:xfrm>
            <a:off x="6358759" y="2228552"/>
            <a:ext cx="2858813" cy="33176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400" dirty="0">
                <a:solidFill>
                  <a:sysClr val="windowText" lastClr="000000"/>
                </a:solidFill>
              </a:rPr>
              <a:t>Header Text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5B6D0E5-07BA-8E37-BAAC-9B03DFAC1C9F}"/>
              </a:ext>
            </a:extLst>
          </p:cNvPr>
          <p:cNvSpPr/>
          <p:nvPr/>
        </p:nvSpPr>
        <p:spPr>
          <a:xfrm>
            <a:off x="6374524" y="2739355"/>
            <a:ext cx="3356617" cy="333753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400" dirty="0">
                <a:solidFill>
                  <a:sysClr val="windowText" lastClr="000000"/>
                </a:solidFill>
              </a:rPr>
              <a:t>Contact Form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3AF178B-3FFD-4F9D-9409-BB632EA07DAC}"/>
              </a:ext>
            </a:extLst>
          </p:cNvPr>
          <p:cNvSpPr/>
          <p:nvPr/>
        </p:nvSpPr>
        <p:spPr>
          <a:xfrm>
            <a:off x="5917324" y="6262324"/>
            <a:ext cx="6074979" cy="6414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Footer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37E9D17-1BCF-4F54-61E7-CFABB739DBEA}"/>
              </a:ext>
            </a:extLst>
          </p:cNvPr>
          <p:cNvSpPr/>
          <p:nvPr/>
        </p:nvSpPr>
        <p:spPr>
          <a:xfrm>
            <a:off x="9919095" y="2739355"/>
            <a:ext cx="1885251" cy="89899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400" dirty="0">
                <a:solidFill>
                  <a:sysClr val="windowText" lastClr="000000"/>
                </a:solidFill>
              </a:rPr>
              <a:t>Text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158F753-7CDC-28D9-F18D-728D920BD361}"/>
              </a:ext>
            </a:extLst>
          </p:cNvPr>
          <p:cNvSpPr/>
          <p:nvPr/>
        </p:nvSpPr>
        <p:spPr>
          <a:xfrm>
            <a:off x="9919096" y="3823784"/>
            <a:ext cx="1885251" cy="89899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400" dirty="0">
                <a:solidFill>
                  <a:sysClr val="windowText" lastClr="000000"/>
                </a:solidFill>
              </a:rPr>
              <a:t>Text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945D5EA-FA6D-7463-47AF-3056D062A17B}"/>
              </a:ext>
            </a:extLst>
          </p:cNvPr>
          <p:cNvSpPr/>
          <p:nvPr/>
        </p:nvSpPr>
        <p:spPr>
          <a:xfrm>
            <a:off x="9919097" y="4880266"/>
            <a:ext cx="1885251" cy="89899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400" dirty="0">
                <a:solidFill>
                  <a:sysClr val="windowText" lastClr="000000"/>
                </a:solidFill>
              </a:rP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9941394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2A6AF-1CCC-FA6F-6534-22D89E4FB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3453577C-5EE3-FEA3-1986-FFEBAACC0117}"/>
              </a:ext>
            </a:extLst>
          </p:cNvPr>
          <p:cNvCxnSpPr/>
          <p:nvPr/>
        </p:nvCxnSpPr>
        <p:spPr>
          <a:xfrm>
            <a:off x="199697" y="1093076"/>
            <a:ext cx="1179260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CDE05EA0-694E-3194-E2E6-A3C28AD9298E}"/>
              </a:ext>
            </a:extLst>
          </p:cNvPr>
          <p:cNvSpPr txBox="1"/>
          <p:nvPr/>
        </p:nvSpPr>
        <p:spPr>
          <a:xfrm>
            <a:off x="199697" y="199696"/>
            <a:ext cx="56132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Tech Stack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57FAF1-0D2E-C69C-EDF6-146114B8DE39}"/>
              </a:ext>
            </a:extLst>
          </p:cNvPr>
          <p:cNvSpPr txBox="1"/>
          <p:nvPr/>
        </p:nvSpPr>
        <p:spPr>
          <a:xfrm>
            <a:off x="863600" y="1340126"/>
            <a:ext cx="878840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React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 semantic elements like header, nav, section &amp; footer to structure content.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Ensure accessibility using proper alt attributes for images &amp; labels for form inputs.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 react component to render pages</a:t>
            </a:r>
          </a:p>
          <a:p>
            <a:endParaRPr lang="en-US" dirty="0"/>
          </a:p>
          <a:p>
            <a:r>
              <a:rPr lang="en-US" sz="2000" b="1" dirty="0"/>
              <a:t>CSS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 external CSS for styling,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Leverage Bootstrap’s grid system for responsive design.</a:t>
            </a:r>
          </a:p>
          <a:p>
            <a:endParaRPr lang="en-US" dirty="0"/>
          </a:p>
          <a:p>
            <a:r>
              <a:rPr lang="en-US" sz="2000" b="1" dirty="0"/>
              <a:t>Backend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 Node.js &amp; </a:t>
            </a:r>
            <a:r>
              <a:rPr lang="en-US" dirty="0" err="1"/>
              <a:t>Express.js</a:t>
            </a:r>
            <a:r>
              <a:rPr lang="en-US" dirty="0"/>
              <a:t> to handle API, requests and send responses.</a:t>
            </a:r>
          </a:p>
          <a:p>
            <a:endParaRPr lang="en-US" dirty="0"/>
          </a:p>
          <a:p>
            <a:r>
              <a:rPr lang="en-US" sz="2000" b="1" dirty="0"/>
              <a:t>Database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 MySQL libraries to handle all database operations</a:t>
            </a:r>
          </a:p>
        </p:txBody>
      </p:sp>
    </p:spTree>
    <p:extLst>
      <p:ext uri="{BB962C8B-B14F-4D97-AF65-F5344CB8AC3E}">
        <p14:creationId xmlns:p14="http://schemas.microsoft.com/office/powerpoint/2010/main" val="36459983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B3AB8-5CB2-6035-DE7D-F06CC9304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45D84216-43FE-FE9E-77B2-C9A163C556E2}"/>
              </a:ext>
            </a:extLst>
          </p:cNvPr>
          <p:cNvCxnSpPr/>
          <p:nvPr/>
        </p:nvCxnSpPr>
        <p:spPr>
          <a:xfrm>
            <a:off x="199697" y="1093076"/>
            <a:ext cx="1179260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48D24D8-9421-B992-9F54-F6586532A910}"/>
              </a:ext>
            </a:extLst>
          </p:cNvPr>
          <p:cNvSpPr txBox="1"/>
          <p:nvPr/>
        </p:nvSpPr>
        <p:spPr>
          <a:xfrm>
            <a:off x="199697" y="199696"/>
            <a:ext cx="56132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Visual Aids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526ED2-951C-B6EB-E37D-F2048C083F40}"/>
              </a:ext>
            </a:extLst>
          </p:cNvPr>
          <p:cNvSpPr txBox="1"/>
          <p:nvPr/>
        </p:nvSpPr>
        <p:spPr>
          <a:xfrm>
            <a:off x="829734" y="1209829"/>
            <a:ext cx="5497494" cy="2693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Web App Layout</a:t>
            </a:r>
          </a:p>
          <a:p>
            <a:pPr>
              <a:spcBef>
                <a:spcPts val="600"/>
              </a:spcBef>
            </a:pPr>
            <a:r>
              <a:rPr lang="en-US" u="sng" dirty="0"/>
              <a:t>CSS Framework</a:t>
            </a:r>
          </a:p>
          <a:p>
            <a:r>
              <a:rPr lang="en-US" dirty="0"/>
              <a:t>Bootstrap for responsive layout</a:t>
            </a:r>
          </a:p>
          <a:p>
            <a:endParaRPr lang="en-US" dirty="0"/>
          </a:p>
          <a:p>
            <a:r>
              <a:rPr lang="en-US" u="sng" dirty="0"/>
              <a:t>Custom CSS</a:t>
            </a:r>
          </a:p>
          <a:p>
            <a:r>
              <a:rPr lang="en-US" dirty="0"/>
              <a:t>For branding</a:t>
            </a:r>
          </a:p>
          <a:p>
            <a:endParaRPr lang="en-US" dirty="0"/>
          </a:p>
          <a:p>
            <a:r>
              <a:rPr lang="en-US" u="sng" dirty="0"/>
              <a:t>JavaScript –</a:t>
            </a:r>
            <a:r>
              <a:rPr lang="en-US" u="sng" dirty="0" err="1"/>
              <a:t>react.js</a:t>
            </a:r>
            <a:endParaRPr lang="en-US" u="sng" dirty="0"/>
          </a:p>
          <a:p>
            <a:r>
              <a:rPr lang="en-US" dirty="0"/>
              <a:t>For UI interaction with user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72992A-3B77-A0D9-F11D-C98E20FC4EA5}"/>
              </a:ext>
            </a:extLst>
          </p:cNvPr>
          <p:cNvSpPr txBox="1"/>
          <p:nvPr/>
        </p:nvSpPr>
        <p:spPr>
          <a:xfrm>
            <a:off x="829734" y="3965259"/>
            <a:ext cx="8387839" cy="2693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Webpage Graphic</a:t>
            </a:r>
          </a:p>
          <a:p>
            <a:pPr>
              <a:spcBef>
                <a:spcPts val="600"/>
              </a:spcBef>
            </a:pPr>
            <a:r>
              <a:rPr lang="en-US" u="sng" dirty="0"/>
              <a:t>Graphic Creation</a:t>
            </a:r>
          </a:p>
          <a:p>
            <a:r>
              <a:rPr lang="en-US" dirty="0"/>
              <a:t>Use tools like Photoshop &amp; free stock images</a:t>
            </a:r>
          </a:p>
          <a:p>
            <a:endParaRPr lang="en-US" dirty="0"/>
          </a:p>
          <a:p>
            <a:r>
              <a:rPr lang="en-US" u="sng" dirty="0"/>
              <a:t>Icon</a:t>
            </a:r>
          </a:p>
          <a:p>
            <a:r>
              <a:rPr lang="en-US" dirty="0"/>
              <a:t>Use bootstrap icons such as social media for engagement.</a:t>
            </a:r>
          </a:p>
          <a:p>
            <a:endParaRPr lang="en-US" dirty="0"/>
          </a:p>
          <a:p>
            <a:r>
              <a:rPr lang="en-US" u="sng" dirty="0"/>
              <a:t>Fonts</a:t>
            </a:r>
          </a:p>
          <a:p>
            <a:r>
              <a:rPr lang="en-US" dirty="0"/>
              <a:t>Use readily available Google font and </a:t>
            </a:r>
            <a:r>
              <a:rPr lang="en-US" dirty="0" err="1"/>
              <a:t>san</a:t>
            </a:r>
            <a:r>
              <a:rPr lang="en-US" dirty="0"/>
              <a:t>-serif style for a modern and clean look.</a:t>
            </a:r>
          </a:p>
        </p:txBody>
      </p:sp>
    </p:spTree>
    <p:extLst>
      <p:ext uri="{BB962C8B-B14F-4D97-AF65-F5344CB8AC3E}">
        <p14:creationId xmlns:p14="http://schemas.microsoft.com/office/powerpoint/2010/main" val="15752931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A89083-C268-88C2-5321-BBDC6561D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EDEC982C-2639-FD2C-6691-65D80717F775}"/>
              </a:ext>
            </a:extLst>
          </p:cNvPr>
          <p:cNvCxnSpPr/>
          <p:nvPr/>
        </p:nvCxnSpPr>
        <p:spPr>
          <a:xfrm>
            <a:off x="199697" y="1093076"/>
            <a:ext cx="1179260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CFCE62F4-4D51-99C2-58FB-8E6FBF4F1391}"/>
              </a:ext>
            </a:extLst>
          </p:cNvPr>
          <p:cNvSpPr txBox="1"/>
          <p:nvPr/>
        </p:nvSpPr>
        <p:spPr>
          <a:xfrm>
            <a:off x="199697" y="199696"/>
            <a:ext cx="56132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Styles – Color code &amp; font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957F6E-2EC8-BEBE-BB1E-D35454606F1A}"/>
              </a:ext>
            </a:extLst>
          </p:cNvPr>
          <p:cNvSpPr txBox="1"/>
          <p:nvPr/>
        </p:nvSpPr>
        <p:spPr>
          <a:xfrm>
            <a:off x="406400" y="1354667"/>
            <a:ext cx="17441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Color Palette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ADD43D8-8663-A380-B80A-1055946DD405}"/>
              </a:ext>
            </a:extLst>
          </p:cNvPr>
          <p:cNvSpPr txBox="1"/>
          <p:nvPr/>
        </p:nvSpPr>
        <p:spPr>
          <a:xfrm>
            <a:off x="406399" y="3719127"/>
            <a:ext cx="17441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Font Family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47536B0-EA5B-6FA6-72A5-DD7FAEA84212}"/>
              </a:ext>
            </a:extLst>
          </p:cNvPr>
          <p:cNvSpPr txBox="1"/>
          <p:nvPr/>
        </p:nvSpPr>
        <p:spPr>
          <a:xfrm>
            <a:off x="385036" y="4150843"/>
            <a:ext cx="1946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 err="1"/>
              <a:t>Monsterrat</a:t>
            </a:r>
            <a:r>
              <a:rPr lang="en-US" u="sng" dirty="0"/>
              <a:t> Font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8527816-7DC2-37E6-241F-8D32D49CF258}"/>
              </a:ext>
            </a:extLst>
          </p:cNvPr>
          <p:cNvSpPr txBox="1"/>
          <p:nvPr/>
        </p:nvSpPr>
        <p:spPr>
          <a:xfrm>
            <a:off x="5925351" y="4097818"/>
            <a:ext cx="1946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Inter Font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D1FBB1-FEFC-5785-6677-BA1D7D5C664B}"/>
              </a:ext>
            </a:extLst>
          </p:cNvPr>
          <p:cNvSpPr txBox="1"/>
          <p:nvPr/>
        </p:nvSpPr>
        <p:spPr>
          <a:xfrm>
            <a:off x="385036" y="1737112"/>
            <a:ext cx="11494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#0F172A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7B813E-67A6-95CA-E260-8BD9595E038E}"/>
              </a:ext>
            </a:extLst>
          </p:cNvPr>
          <p:cNvSpPr txBox="1"/>
          <p:nvPr/>
        </p:nvSpPr>
        <p:spPr>
          <a:xfrm>
            <a:off x="3448801" y="1737112"/>
            <a:ext cx="11494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#22C55E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74EDC1-0C54-FCB3-CE7D-4102879123AC}"/>
              </a:ext>
            </a:extLst>
          </p:cNvPr>
          <p:cNvSpPr txBox="1"/>
          <p:nvPr/>
        </p:nvSpPr>
        <p:spPr>
          <a:xfrm>
            <a:off x="5937829" y="1737112"/>
            <a:ext cx="11494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#</a:t>
            </a:r>
            <a:r>
              <a:rPr lang="en-SG" dirty="0"/>
              <a:t>F97316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ABBC0EA-1AC1-2D3B-6E73-FBB8FB3E4BBC}"/>
              </a:ext>
            </a:extLst>
          </p:cNvPr>
          <p:cNvSpPr txBox="1"/>
          <p:nvPr/>
        </p:nvSpPr>
        <p:spPr>
          <a:xfrm>
            <a:off x="8160767" y="1737112"/>
            <a:ext cx="11494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#</a:t>
            </a:r>
            <a:r>
              <a:rPr lang="en-SG" dirty="0"/>
              <a:t>F8FAFC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A6A3A13-3457-148C-93C2-B02CA415729C}"/>
              </a:ext>
            </a:extLst>
          </p:cNvPr>
          <p:cNvSpPr txBox="1"/>
          <p:nvPr/>
        </p:nvSpPr>
        <p:spPr>
          <a:xfrm>
            <a:off x="10141967" y="1737112"/>
            <a:ext cx="11494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#</a:t>
            </a:r>
            <a:r>
              <a:rPr lang="en-SG" dirty="0"/>
              <a:t>6B7280</a:t>
            </a:r>
          </a:p>
        </p:txBody>
      </p:sp>
      <p:pic>
        <p:nvPicPr>
          <p:cNvPr id="9" name="Picture 8" descr="A green background with black text&#10;&#10;AI-generated content may be incorrect.">
            <a:extLst>
              <a:ext uri="{FF2B5EF4-FFF2-40B4-BE49-F238E27FC236}">
                <a16:creationId xmlns:a16="http://schemas.microsoft.com/office/drawing/2014/main" id="{32C23597-D69C-2BD2-3406-7801E203BB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2874" y="2066250"/>
            <a:ext cx="2210035" cy="1609999"/>
          </a:xfrm>
          <a:prstGeom prst="rect">
            <a:avLst/>
          </a:prstGeom>
        </p:spPr>
      </p:pic>
      <p:pic>
        <p:nvPicPr>
          <p:cNvPr id="14" name="Picture 13" descr="A close up of a sign&#10;&#10;AI-generated content may be incorrect.">
            <a:extLst>
              <a:ext uri="{FF2B5EF4-FFF2-40B4-BE49-F238E27FC236}">
                <a16:creationId xmlns:a16="http://schemas.microsoft.com/office/drawing/2014/main" id="{BE028DA4-35E5-9677-86E0-453B4D95A8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1670" y="2077504"/>
            <a:ext cx="1586915" cy="1609997"/>
          </a:xfrm>
          <a:prstGeom prst="rect">
            <a:avLst/>
          </a:prstGeom>
        </p:spPr>
      </p:pic>
      <p:pic>
        <p:nvPicPr>
          <p:cNvPr id="18" name="Picture 17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2A98F2E9-BA3E-AD02-0E1F-43E8C5A821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0767" y="2077504"/>
            <a:ext cx="1649672" cy="160998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" name="Picture 19" descr="A grey background with white text&#10;&#10;AI-generated content may be incorrect.">
            <a:extLst>
              <a:ext uri="{FF2B5EF4-FFF2-40B4-BE49-F238E27FC236}">
                <a16:creationId xmlns:a16="http://schemas.microsoft.com/office/drawing/2014/main" id="{319F5D0F-7E0D-4DAD-EB20-5545BE78AC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1967" y="2066250"/>
            <a:ext cx="2036146" cy="1652871"/>
          </a:xfrm>
          <a:prstGeom prst="rect">
            <a:avLst/>
          </a:prstGeom>
        </p:spPr>
      </p:pic>
      <p:pic>
        <p:nvPicPr>
          <p:cNvPr id="22" name="Picture 21" descr="A dark blue background with white text&#10;&#10;AI-generated content may be incorrect.">
            <a:extLst>
              <a:ext uri="{FF2B5EF4-FFF2-40B4-BE49-F238E27FC236}">
                <a16:creationId xmlns:a16="http://schemas.microsoft.com/office/drawing/2014/main" id="{9A35A9B0-6C76-FC95-8B43-F3AC9CBAA2A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5186" y="2003657"/>
            <a:ext cx="1617919" cy="1683835"/>
          </a:xfrm>
          <a:prstGeom prst="rect">
            <a:avLst/>
          </a:prstGeom>
        </p:spPr>
      </p:pic>
      <p:pic>
        <p:nvPicPr>
          <p:cNvPr id="1026" name="Picture 2" descr="Top 8 Tools To Get Montserrat Font With ...">
            <a:extLst>
              <a:ext uri="{FF2B5EF4-FFF2-40B4-BE49-F238E27FC236}">
                <a16:creationId xmlns:a16="http://schemas.microsoft.com/office/drawing/2014/main" id="{96A60576-034E-8E00-C74A-FCD8F4F275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036" y="4502510"/>
            <a:ext cx="3860800" cy="210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nter img 2">
            <a:extLst>
              <a:ext uri="{FF2B5EF4-FFF2-40B4-BE49-F238E27FC236}">
                <a16:creationId xmlns:a16="http://schemas.microsoft.com/office/drawing/2014/main" id="{43B9F790-E32F-FBAB-6957-76185F1CAC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2970" y="4502510"/>
            <a:ext cx="3162863" cy="2076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72182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45D414B-D212-D6A3-E82F-D8C50E9CC839}"/>
              </a:ext>
            </a:extLst>
          </p:cNvPr>
          <p:cNvSpPr txBox="1"/>
          <p:nvPr/>
        </p:nvSpPr>
        <p:spPr>
          <a:xfrm>
            <a:off x="1832008" y="3075057"/>
            <a:ext cx="852798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End of Presentation</a:t>
            </a:r>
          </a:p>
        </p:txBody>
      </p:sp>
    </p:spTree>
    <p:extLst>
      <p:ext uri="{BB962C8B-B14F-4D97-AF65-F5344CB8AC3E}">
        <p14:creationId xmlns:p14="http://schemas.microsoft.com/office/powerpoint/2010/main" val="37062835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11911</TotalTime>
  <Words>495</Words>
  <Application>Microsoft Macintosh PowerPoint</Application>
  <PresentationFormat>Widescreen</PresentationFormat>
  <Paragraphs>139</Paragraphs>
  <Slides>12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Kwang Wei Ong</dc:creator>
  <cp:lastModifiedBy>Kwang Wei Ong</cp:lastModifiedBy>
  <cp:revision>13</cp:revision>
  <dcterms:created xsi:type="dcterms:W3CDTF">2025-11-25T10:55:55Z</dcterms:created>
  <dcterms:modified xsi:type="dcterms:W3CDTF">2026-01-31T05:09:28Z</dcterms:modified>
</cp:coreProperties>
</file>